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0116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87878"/>
                </a:solidFill>
                <a:latin typeface="Noto Sans KR"/>
              </a:defRPr>
            </a:pPr>
            <a:r>
              <a:t>2026학년도 신입생 유치를 위한</a:t>
            </a:r>
          </a:p>
          <a:p>
            <a:pPr>
              <a:spcAft>
                <a:spcPts val="1000"/>
              </a:spcAft>
              <a:defRPr sz="4800" b="1">
                <a:solidFill>
                  <a:srgbClr val="0C2340"/>
                </a:solidFill>
                <a:latin typeface="Gmarket Sans Medium"/>
              </a:defRPr>
            </a:pPr>
            <a:r>
              <a:t>진해고등학교 입학 설명회</a:t>
            </a:r>
          </a:p>
          <a:p>
            <a:pPr>
              <a:defRPr sz="1800" b="1">
                <a:solidFill>
                  <a:srgbClr val="D32F2F"/>
                </a:solidFill>
                <a:latin typeface="Noto Sans KR"/>
              </a:defRPr>
            </a:pPr>
            <a:r>
              <a:t>변화하는 대입 제도, 왜 진해고가 정답인가?</a:t>
            </a:r>
          </a:p>
        </p:txBody>
      </p:sp>
      <p:pic>
        <p:nvPicPr>
          <p:cNvPr id="4" name="Picture 3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68880"/>
            <a:ext cx="1920240" cy="1868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찾아가는 설명회: 부장교사 Professional 브리핑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🎯 대형 강당 브리핑의 목표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교실별 분산 진행 대신 대형 강당 진행으로 학교의 규모감과 무게감 선사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중3 학생들에게 '왜 지금 진해고를 선택해야 하는가'에 대한 확신 부여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📢 핵심 메시지 설계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'5등급제 도입(고교학점제)'에 따른 대입 지형 변화 선제 분석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학생 수가 많을 때 보장되는 선택과목 개설 다양성과 내신 안전망 강조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💡 운영 전략: 투트랙(Two-Track) 시너지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부장교사의 Professional 브리핑 (거시 비전, 신뢰도 확보) [15분]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282828"/>
                </a:solidFill>
                <a:latin typeface="Noto Sans KR"/>
              </a:defRPr>
            </a:pPr>
            <a:r>
              <a:t>- 재학생 도우미의 솔직 담백 Q&amp;A 및 토크쇼 (감성 터치, 공감대 형성) [15분]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재학생 입학홍보단 '솔직 담백' Q&amp;A 큐카드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C2340"/>
                </a:solidFill>
                <a:latin typeface="Gmarket Sans Medium"/>
              </a:defRPr>
            </a:pPr>
            <a:r>
              <a:t>Q1. 매점과 급식</a:t>
            </a:r>
          </a:p>
          <a:p>
            <a:pPr>
              <a:lnSpc>
                <a:spcPct val="130000"/>
              </a:lnSpc>
              <a:defRPr sz="1700">
                <a:solidFill>
                  <a:srgbClr val="282828"/>
                </a:solidFill>
                <a:latin typeface="Noto Sans KR"/>
              </a:defRPr>
            </a:pPr>
            <a:r>
              <a:t>진해고 급식 양도 푸짐하고 매월 특식 퀄리티 최상!</a:t>
            </a:r>
            <a:br/>
            <a:r>
              <a:t>2교시 쉬는 시간 매점 닭강정과 만두 쟁탈전은 진해고의 활력소!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32F2F"/>
                </a:solidFill>
                <a:latin typeface="Gmarket Sans Medium"/>
              </a:defRPr>
            </a:pPr>
            <a:r>
              <a:t>Q2. 현실적인 내신 걱정</a:t>
            </a:r>
          </a:p>
          <a:p>
            <a:pPr>
              <a:lnSpc>
                <a:spcPct val="130000"/>
              </a:lnSpc>
              <a:defRPr sz="1700">
                <a:solidFill>
                  <a:srgbClr val="282828"/>
                </a:solidFill>
                <a:latin typeface="Noto Sans KR"/>
              </a:defRPr>
            </a:pPr>
            <a:r>
              <a:t>인원 적은 소규모 학교는 실수 한 번에 등급 폭망..</a:t>
            </a:r>
            <a:br/>
            <a:r>
              <a:t>진해고는 인원이 많아 실수 만회가 가능한 든든한 '안전망' 존재!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C2340"/>
                </a:solidFill>
                <a:latin typeface="Gmarket Sans Medium"/>
              </a:defRPr>
            </a:pPr>
            <a:r>
              <a:t>Q3. 남고의 끈끈함 분위기</a:t>
            </a:r>
          </a:p>
          <a:p>
            <a:pPr>
              <a:lnSpc>
                <a:spcPct val="130000"/>
              </a:lnSpc>
              <a:defRPr sz="1700">
                <a:solidFill>
                  <a:srgbClr val="282828"/>
                </a:solidFill>
                <a:latin typeface="Noto Sans KR"/>
              </a:defRPr>
            </a:pPr>
            <a:r>
              <a:t>칙칙하고 거칠다는 소문은 NO!</a:t>
            </a:r>
            <a:br/>
            <a:r>
              <a:t>체육대회/축제 우주 최강 단합력, 평생 갈 진짜 친구 사귀는 곳!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진해고등학교만이 가지는 독보적 구조적 강점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🚫 여학생들과의 내신 경쟁 스트레스 원천 차단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C2340"/>
                </a:solidFill>
                <a:latin typeface="Noto Sans KR"/>
              </a:defRPr>
            </a:pPr>
            <a:r>
              <a:t>- 공학 고교 대비 꼼꼼한 수행평가 등 남학생이 상대적으로 겪을 수 있는 내신 불리함 완벽 방지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C2340"/>
                </a:solidFill>
                <a:latin typeface="Noto Sans KR"/>
              </a:defRPr>
            </a:pPr>
            <a:r>
              <a:t>- 오직 본인의 성취도와 역량에만 집중하여 공정하고 안정적으로 내신을 확보하는 남학교 환경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🎯 교내 진로 선택과목 100% 개설 (폐강/통폐합 우려 Zero)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C2340"/>
                </a:solidFill>
                <a:latin typeface="Noto Sans KR"/>
              </a:defRPr>
            </a:pPr>
            <a:r>
              <a:t>- 학생부종합전형의 핵심: 본인의 진로에 맞는 기하, 물리학Ⅱ, 프로그래밍, 인공지능기초 등 심화 이수 필수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>
                <a:solidFill>
                  <a:srgbClr val="0C2340"/>
                </a:solidFill>
                <a:latin typeface="Noto Sans KR"/>
              </a:defRPr>
            </a:pPr>
            <a:r>
              <a:t>- 소규모 고교와 달리 학년별 약 300명의 두터운 학생 수 덕분에 모든 진로 선택과목이 교내 정규 과정으로 개설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2000" b="1">
                <a:solidFill>
                  <a:srgbClr val="D32F2F"/>
                </a:solidFill>
                <a:latin typeface="Noto Sans KR"/>
              </a:defRPr>
            </a:pPr>
            <a:r>
              <a:t>- 다른 학교와 공동교육과정(위탁)으로 시간과 동선을 낭비할 필요 없이 학교 안에서 완벽히 해결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선택과목 이수 및 내신 등급의 치트키: '인원수'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32F2F"/>
                </a:solidFill>
                <a:latin typeface="Noto Sans KR"/>
              </a:defRPr>
            </a:pPr>
            <a:r>
              <a:t>※ 고교학점제 5등급제(1등급 상위 10%) 기준 수강 인원별 등급 문호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92608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Gmarket Sans Medium"/>
                        </a:defRPr>
                      </a:pPr>
                      <a:r>
                        <a:t>구분 (과목별 수강 인원)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Gmarket Sans Medium"/>
                        </a:defRPr>
                      </a:pPr>
                      <a:r>
                        <a:t>1등급 인원 (상위 10%)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Gmarket Sans Medium"/>
                        </a:defRPr>
                      </a:pPr>
                      <a:r>
                        <a:t>2등급 누적 (상위 34%)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Gmarket Sans Medium"/>
                        </a:defRPr>
                      </a:pPr>
                      <a:r>
                        <a:t>학부모 안심 포인트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소규모 학교/과목 (20명 수강)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단 2명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누적 6명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실수 한 번에 등급 급락, 압박감 극대화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중규모 학교/과목 (40명 수강)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4명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누적 13명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내신 경쟁 과열로 인한 학업 스트레스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82828"/>
                          </a:solidFill>
                          <a:latin typeface="Noto Sans KR"/>
                        </a:defRPr>
                      </a:pPr>
                      <a:r>
                        <a:t>진해고 우위 과목 (100명 수강)</a:t>
                      </a:r>
                    </a:p>
                  </a:txBody>
                  <a:tcPr>
                    <a:solidFill>
                      <a:srgbClr val="FEE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D32F2F"/>
                          </a:solidFill>
                          <a:latin typeface="Noto Sans KR"/>
                        </a:defRPr>
                      </a:pPr>
                      <a:r>
                        <a:t>10명 (5배 확보)</a:t>
                      </a:r>
                    </a:p>
                  </a:txBody>
                  <a:tcPr>
                    <a:solidFill>
                      <a:srgbClr val="FEE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D32F2F"/>
                          </a:solidFill>
                          <a:latin typeface="Noto Sans KR"/>
                        </a:defRPr>
                      </a:pPr>
                      <a:r>
                        <a:t>누적 34명</a:t>
                      </a:r>
                    </a:p>
                  </a:txBody>
                  <a:tcPr>
                    <a:solidFill>
                      <a:srgbClr val="FE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D32F2F"/>
                          </a:solidFill>
                          <a:latin typeface="Noto Sans KR"/>
                        </a:defRPr>
                      </a:pPr>
                      <a:r>
                        <a:t>내신 획득의 문호가 넓어 시험 만회 가능</a:t>
                      </a:r>
                    </a:p>
                  </a:txBody>
                  <a:tcPr>
                    <a:solidFill>
                      <a:srgbClr val="FEED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통계로 입증된 성적 향상 레버리지와 관외 유입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📈 중학 성적 vs 고교 석차의 높은 연계와 성공 가능성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>
                <a:solidFill>
                  <a:srgbClr val="0C2340"/>
                </a:solidFill>
                <a:latin typeface="Noto Sans KR"/>
              </a:defRPr>
            </a:pPr>
            <a:r>
              <a:t>- 중학 석차백분율(%)과 고교 1학기말 석차 상관계수 0.8631로 매우 높은 신뢰도 입증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🔥 꿈을 현실로 만드는 '내신 역전(도약)의 드라마' 선배 사례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>
                <a:solidFill>
                  <a:srgbClr val="0C2340"/>
                </a:solidFill>
                <a:latin typeface="Noto Sans KR"/>
              </a:defRPr>
            </a:pPr>
            <a:r>
              <a:t>- 임지민 선배 (안골포중 출신): 고교 입학 26등 ➔ 1학년 1학기말 전교 1등 달성 (▲25계단 수직 상승!)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>
                <a:solidFill>
                  <a:srgbClr val="0C2340"/>
                </a:solidFill>
                <a:latin typeface="Noto Sans KR"/>
              </a:defRPr>
            </a:pPr>
            <a:r>
              <a:t>- 김준민 선배 (진해남중 출신): 고교 입학 21등 ➔ 1학년 1학기말 전교 4등 달성 (▲17계단 도약!)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>
                <a:solidFill>
                  <a:srgbClr val="0C2340"/>
                </a:solidFill>
                <a:latin typeface="Noto Sans KR"/>
              </a:defRPr>
            </a:pPr>
            <a:r>
              <a:t>- 윤영 선배 (진해남중 출신): 고교 입학 17등 ➔ 1학년 1학기말 전교 3등 달성 (▲14계단 도약!)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400" b="1">
                <a:solidFill>
                  <a:srgbClr val="0C2340"/>
                </a:solidFill>
                <a:latin typeface="Noto Sans KR"/>
              </a:defRPr>
            </a:pPr>
            <a:r>
              <a:t>🚗 관외/원거리 유입률 20.7% 및 기숙사(송학관/동백관) 완벽 적응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>
                <a:solidFill>
                  <a:srgbClr val="0C2340"/>
                </a:solidFill>
                <a:latin typeface="Noto Sans KR"/>
              </a:defRPr>
            </a:pPr>
            <a:r>
              <a:t>- 신입생 중 창원 관내, 용원, 웅천 등 관외 출신 비율이 20.7% (63명) 달성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 sz="1900" b="1">
                <a:solidFill>
                  <a:srgbClr val="D32F2F"/>
                </a:solidFill>
                <a:latin typeface="Noto Sans KR"/>
              </a:defRPr>
            </a:pPr>
            <a:r>
              <a:t>- 기숙사 정주 여건을 기반으로 관외 출신 학생들도 최상위권(전교 1등 임지민 선배 등)에 다수 포진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의·치·약학 메디컬 계열 진학을 향한 최상위권 선배 사례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Gmarket Sans Medium"/>
              </a:defRPr>
            </a:pPr>
            <a:r>
              <a:t>유도훈 선배 (2학년 1반)</a:t>
            </a:r>
          </a:p>
          <a:p>
            <a:pPr>
              <a:lnSpc>
                <a:spcPct val="130000"/>
              </a:lnSpc>
              <a:defRPr sz="1500">
                <a:solidFill>
                  <a:srgbClr val="282828"/>
                </a:solidFill>
                <a:latin typeface="Noto Sans KR"/>
              </a:defRPr>
            </a:pPr>
            <a:r>
              <a:t>• 내신 평균: 1.08 등급</a:t>
            </a:r>
            <a:br/>
            <a:r>
              <a:t>• 지망 학과: 연세대학교 의예과</a:t>
            </a:r>
            <a:br/>
            <a:r>
              <a:t>• 특징: 중학 백분율 1.67%로 입학, 철저한 내신 유지와 생명과학 의학 융합 탐구 세특 최우수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32F2F"/>
                </a:solidFill>
                <a:latin typeface="Gmarket Sans Medium"/>
              </a:defRPr>
            </a:pPr>
            <a:r>
              <a:t>임지민 선배 (2학년 2반)</a:t>
            </a:r>
          </a:p>
          <a:p>
            <a:pPr>
              <a:lnSpc>
                <a:spcPct val="130000"/>
              </a:lnSpc>
              <a:defRPr sz="1500">
                <a:solidFill>
                  <a:srgbClr val="282828"/>
                </a:solidFill>
                <a:latin typeface="Noto Sans KR"/>
              </a:defRPr>
            </a:pPr>
            <a:r>
              <a:t>• 내신 평균: 1.20 등급</a:t>
            </a:r>
            <a:br/>
            <a:r>
              <a:t>• 지망 학과: 경상국립대 의예과</a:t>
            </a:r>
            <a:br/>
            <a:r>
              <a:t>• 특징: 중학 백분율 0.83%로 안골포중에서 진해고로 입학하여 지역인재 특별전형 수시 완벽 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Gmarket Sans Medium"/>
              </a:defRPr>
            </a:pPr>
            <a:r>
              <a:t>박준형 선배 (2학년 5반)</a:t>
            </a:r>
          </a:p>
          <a:p>
            <a:pPr>
              <a:lnSpc>
                <a:spcPct val="130000"/>
              </a:lnSpc>
              <a:defRPr sz="1500">
                <a:solidFill>
                  <a:srgbClr val="282828"/>
                </a:solidFill>
                <a:latin typeface="Noto Sans KR"/>
              </a:defRPr>
            </a:pPr>
            <a:r>
              <a:t>• 내신 평균: 2.00 등급</a:t>
            </a:r>
            <a:br/>
            <a:r>
              <a:t>• 지망 학과: 경상국립대 의예과</a:t>
            </a:r>
            <a:br/>
            <a:r>
              <a:t>• 특징: 기숙사 자기주도적 학습 지원과 심화 탐구 공동체 활동으로 종합 전형 및 의예과 수시 공략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공교육을 혁신하는 AI 기반 첨단 학생 지도 시스템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Gmarket Sans Medium"/>
              </a:defRPr>
            </a:pPr>
            <a:r>
              <a:t>① AI 국어 문법 Socratic 튜터</a:t>
            </a:r>
          </a:p>
          <a:p>
            <a:pPr>
              <a:lnSpc>
                <a:spcPct val="130000"/>
              </a:lnSpc>
              <a:defRPr sz="1600">
                <a:solidFill>
                  <a:srgbClr val="282828"/>
                </a:solidFill>
                <a:latin typeface="Noto Sans KR"/>
              </a:defRPr>
            </a:pPr>
            <a:r>
              <a:t>학생이 오개념을 입력하면 AI가 소크라테스식 대화 유도로 스스로 개념을 귀납적 탐구하도록 이끄는 1:1 학습 도우미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32F2F"/>
                </a:solidFill>
                <a:latin typeface="Gmarket Sans Medium"/>
              </a:defRPr>
            </a:pPr>
            <a:r>
              <a:t>② AI 세특 자동화 시스템</a:t>
            </a:r>
          </a:p>
          <a:p>
            <a:pPr>
              <a:lnSpc>
                <a:spcPct val="130000"/>
              </a:lnSpc>
              <a:defRPr sz="1600">
                <a:solidFill>
                  <a:srgbClr val="282828"/>
                </a:solidFill>
                <a:latin typeface="Noto Sans KR"/>
              </a:defRPr>
            </a:pPr>
            <a:r>
              <a:t>구글 시트 백엔드와 Gemini API 연동을 통해 학생의 수행 이력을 분석하여 개성 넘치고 고유한 대입용 맞춤 세특 초안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Gmarket Sans Medium"/>
              </a:defRPr>
            </a:pPr>
            <a:r>
              <a:t>③ AI 학부모 알림 메시지 포털</a:t>
            </a:r>
          </a:p>
          <a:p>
            <a:pPr>
              <a:lnSpc>
                <a:spcPct val="130000"/>
              </a:lnSpc>
              <a:defRPr sz="1600">
                <a:solidFill>
                  <a:srgbClr val="282828"/>
                </a:solidFill>
                <a:latin typeface="Noto Sans KR"/>
              </a:defRPr>
            </a:pPr>
            <a:r>
              <a:t>바쁜 담임 선생님이 적은 관찰 단서를 격식 있고 감동적인 소통 문구로 3초 만에 변환하여 학부모 안심 케어 서비스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Gmarket Sans Medium"/>
              </a:defRPr>
            </a:pPr>
            <a:r>
              <a:t>대입 성공을 위한 최고의 동반자: 진해고등학교</a:t>
            </a:r>
          </a:p>
        </p:txBody>
      </p:sp>
      <p:pic>
        <p:nvPicPr>
          <p:cNvPr id="3" name="Picture 2" descr="scho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4400" cy="8895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Gmarket Sans Medium"/>
              </a:defRPr>
            </a:pPr>
            <a:r>
              <a:t>1. 내신 확보의 절대적 유리함 &amp; 남학교 환경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Noto Sans KR"/>
              </a:defRPr>
            </a:pPr>
            <a:r>
              <a:t> - 대규모 수강 과목 개설로 넓은 등급 문호 확보 및 공정한 내신 등급 경쟁</a:t>
            </a:r>
          </a:p>
          <a:p>
            <a:pPr>
              <a:defRPr sz="2200" b="1">
                <a:solidFill>
                  <a:srgbClr val="D32F2F"/>
                </a:solidFill>
                <a:latin typeface="Gmarket Sans Medium"/>
              </a:defRPr>
            </a:pPr>
            <a:r>
              <a:t>2. 교내 과목 개설 충족율 100% 보장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Noto Sans KR"/>
              </a:defRPr>
            </a:pPr>
            <a:r>
              <a:t> - 소규모 폐강 걱정 없이 본인의 대입 진로에 필요한 모든 선택 과목 실제 수강</a:t>
            </a:r>
          </a:p>
          <a:p>
            <a:pPr>
              <a:defRPr sz="2200" b="1">
                <a:solidFill>
                  <a:srgbClr val="0C2340"/>
                </a:solidFill>
                <a:latin typeface="Gmarket Sans Medium"/>
              </a:defRPr>
            </a:pPr>
            <a:r>
              <a:t>3. 실증 통계로 검증된 성적 역전 드라마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Noto Sans KR"/>
              </a:defRPr>
            </a:pPr>
            <a:r>
              <a:t> - 피어슨 상관계수 0.8631 및 입학 성적 대비 1학기말 성취 상승(임지민 선배 26등➔1등)</a:t>
            </a:r>
          </a:p>
          <a:p>
            <a:pPr>
              <a:defRPr sz="2200" b="1">
                <a:solidFill>
                  <a:srgbClr val="0C2340"/>
                </a:solidFill>
                <a:latin typeface="Gmarket Sans Medium"/>
              </a:defRPr>
            </a:pPr>
            <a:r>
              <a:t>4. 의·치·약학 메디컬 진학 체계적 케어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Noto Sans KR"/>
              </a:defRPr>
            </a:pPr>
            <a:r>
              <a:t> - 최상위 의예과 지망 선배(유도훈 1.08등급 등) 1:1 맞춤 관리 및 기숙사 최적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