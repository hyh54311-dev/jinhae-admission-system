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gyuwonga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1E1E1E"/>
                </a:solidFill>
                <a:latin typeface="Gmarket Sans Medium"/>
              </a:defRPr>
            </a:pPr>
            <a:r>
              <a:t>[수능특강 문학] 갈래복합 05</a:t>
            </a:r>
          </a:p>
          <a:p>
            <a:pPr algn="ctr">
              <a:defRPr sz="3000">
                <a:solidFill>
                  <a:srgbClr val="003366"/>
                </a:solidFill>
                <a:latin typeface="Gmarket Sans Medium"/>
              </a:defRPr>
            </a:pPr>
            <a:r>
              <a:t>허난설헌 &lt;규원가&gt; 및 작자 미상 &lt;인현왕후전&gt; 핵심 해부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gyuwonga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7315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3366"/>
                </a:solidFill>
                <a:latin typeface="Gmarket Sans Medium"/>
              </a:defRPr>
            </a:pPr>
            <a:r>
              <a:t>1. 허난설헌 &lt;규원가&gt; 개관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645920"/>
            <a:ext cx="9144000" cy="3657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solidFill>
                  <a:srgbClr val="1E1E1E"/>
                </a:solidFill>
                <a:latin typeface="Noto Sans KR"/>
              </a:defRPr>
            </a:pPr>
            <a:r>
              <a:t>주제: 봉건 사회 속 독수공방하는 여성의 한탄과 원망</a:t>
            </a:r>
          </a:p>
          <a:p>
            <a:pPr>
              <a:lnSpc>
                <a:spcPct val="130000"/>
              </a:lnSpc>
              <a:defRPr sz="2600">
                <a:solidFill>
                  <a:srgbClr val="1E1E1E"/>
                </a:solidFill>
                <a:latin typeface="Noto Sans KR"/>
              </a:defRPr>
            </a:pPr>
            <a:r>
              <a:t>갈래: 현전하는 가장 오래된 규방 가사</a:t>
            </a:r>
          </a:p>
          <a:p>
            <a:pPr>
              <a:lnSpc>
                <a:spcPct val="130000"/>
              </a:lnSpc>
              <a:defRPr sz="2600">
                <a:solidFill>
                  <a:srgbClr val="1E1E1E"/>
                </a:solidFill>
                <a:latin typeface="Noto Sans KR"/>
              </a:defRPr>
            </a:pPr>
            <a:r>
              <a:t>핵심 포인트 1</a:t>
            </a:r>
          </a:p>
          <a:p>
            <a:pPr lvl="1">
              <a:lnSpc>
                <a:spcPct val="130000"/>
              </a:lnSpc>
              <a:defRPr sz="2200" b="1">
                <a:solidFill>
                  <a:srgbClr val="BE0000"/>
                </a:solidFill>
                <a:latin typeface="Noto Sans KR"/>
              </a:defRPr>
            </a:pPr>
            <a:r>
              <a:t>• 과거의 눈부신 얼굴(설빈화안) vs 현재의 늙고 초라함(면목가증)</a:t>
            </a:r>
          </a:p>
          <a:p>
            <a:pPr>
              <a:lnSpc>
                <a:spcPct val="130000"/>
              </a:lnSpc>
              <a:defRPr sz="2600">
                <a:solidFill>
                  <a:srgbClr val="1E1E1E"/>
                </a:solidFill>
                <a:latin typeface="Noto Sans KR"/>
              </a:defRPr>
            </a:pPr>
            <a:r>
              <a:t>핵심 포인트 2</a:t>
            </a:r>
          </a:p>
          <a:p>
            <a:pPr lvl="1">
              <a:lnSpc>
                <a:spcPct val="130000"/>
              </a:lnSpc>
              <a:defRPr sz="2200" b="1">
                <a:solidFill>
                  <a:srgbClr val="BE0000"/>
                </a:solidFill>
                <a:latin typeface="Noto Sans KR"/>
              </a:defRPr>
            </a:pPr>
            <a:r>
              <a:t>• 비통한 남편 원망 속에서도 임을 기다리는 이중적 태도의 극대화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gyuwonga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7315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3366"/>
                </a:solidFill>
                <a:latin typeface="Gmarket Sans Medium"/>
              </a:defRPr>
            </a:pPr>
            <a:r>
              <a:t>2. &lt;규원가&gt; 기/승: 빛나던 과거와 방탕한 현재 남편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645920"/>
            <a:ext cx="9144000" cy="3657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solidFill>
                  <a:srgbClr val="1E1E1E"/>
                </a:solidFill>
                <a:latin typeface="Noto Sans KR"/>
              </a:defRPr>
            </a:pPr>
            <a:r>
              <a:t>과거의 나 vs 현재의 나 달빛 대비</a:t>
            </a:r>
          </a:p>
          <a:p>
            <a:pPr lvl="1">
              <a:lnSpc>
                <a:spcPct val="130000"/>
              </a:lnSpc>
              <a:defRPr sz="2200">
                <a:solidFill>
                  <a:srgbClr val="1E1E1E"/>
                </a:solidFill>
                <a:latin typeface="Noto Sans KR"/>
              </a:defRPr>
            </a:pPr>
            <a:r>
              <a:t>• 15세 즈음의 내 눈부신 얼굴(설빈화안)은 도대체 어디로 가고</a:t>
            </a:r>
          </a:p>
          <a:p>
            <a:pPr lvl="1">
              <a:lnSpc>
                <a:spcPct val="130000"/>
              </a:lnSpc>
              <a:defRPr sz="2200" b="1">
                <a:solidFill>
                  <a:srgbClr val="BE0000"/>
                </a:solidFill>
                <a:latin typeface="Noto Sans KR"/>
              </a:defRPr>
            </a:pPr>
            <a:r>
              <a:t>• 거울 속엔 너무 늙고 밉살그러운 모습(면목가증)뿐</a:t>
            </a:r>
          </a:p>
          <a:p>
            <a:pPr lvl="1">
              <a:lnSpc>
                <a:spcPct val="130000"/>
              </a:lnSpc>
              <a:defRPr sz="2200">
                <a:solidFill>
                  <a:srgbClr val="1E1E1E"/>
                </a:solidFill>
                <a:latin typeface="Noto Sans KR"/>
              </a:defRPr>
            </a:pPr>
            <a:r>
              <a:t>• 부귀무남한 나의 기구한 팔자, 조물이 시기하는구나!</a:t>
            </a:r>
          </a:p>
          <a:p>
            <a:pPr>
              <a:lnSpc>
                <a:spcPct val="130000"/>
              </a:lnSpc>
              <a:defRPr sz="2600">
                <a:solidFill>
                  <a:srgbClr val="1E1E1E"/>
                </a:solidFill>
                <a:latin typeface="Noto Sans KR"/>
              </a:defRPr>
            </a:pPr>
            <a:r>
              <a:t>원망스러운 남편의 현재 궤적</a:t>
            </a:r>
          </a:p>
          <a:p>
            <a:pPr lvl="1">
              <a:lnSpc>
                <a:spcPct val="130000"/>
              </a:lnSpc>
              <a:defRPr sz="2200">
                <a:solidFill>
                  <a:srgbClr val="1E1E1E"/>
                </a:solidFill>
                <a:latin typeface="Noto Sans KR"/>
              </a:defRPr>
            </a:pPr>
            <a:r>
              <a:t>• 장안 유협 경박자(주색잡기를 즐기는 호탕한 무리)와 어울리는 남편</a:t>
            </a:r>
          </a:p>
          <a:p>
            <a:pPr lvl="1">
              <a:lnSpc>
                <a:spcPct val="130000"/>
              </a:lnSpc>
              <a:defRPr sz="2200" b="1">
                <a:solidFill>
                  <a:srgbClr val="BE0000"/>
                </a:solidFill>
                <a:latin typeface="Noto Sans KR"/>
              </a:defRPr>
            </a:pPr>
            <a:r>
              <a:t>• 새 기생집(야유원)에 나간 뒤 단 한 통의 소식조차 끊김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gyuwonga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7315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3366"/>
                </a:solidFill>
                <a:latin typeface="Gmarket Sans Medium"/>
              </a:defRPr>
            </a:pPr>
            <a:r>
              <a:t>3. &lt;규원가&gt; 전/결: 독수공방 외로움과 극한의 체념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645920"/>
            <a:ext cx="9144000" cy="3657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solidFill>
                  <a:srgbClr val="1E1E1E"/>
                </a:solidFill>
                <a:latin typeface="Noto Sans KR"/>
              </a:defRPr>
            </a:pPr>
            <a:r>
              <a:t>고조되는 독수공방의 외로운 소리들</a:t>
            </a:r>
          </a:p>
          <a:p>
            <a:pPr lvl="1">
              <a:lnSpc>
                <a:spcPct val="130000"/>
              </a:lnSpc>
              <a:defRPr sz="2200">
                <a:solidFill>
                  <a:srgbClr val="1E1E1E"/>
                </a:solidFill>
                <a:latin typeface="Noto Sans KR"/>
              </a:defRPr>
            </a:pPr>
            <a:r>
              <a:t>• 떨어지는 빗소리, 벽오동에 울어대는 귀뚜라미(실솔) 소리</a:t>
            </a:r>
          </a:p>
          <a:p>
            <a:pPr lvl="1">
              <a:lnSpc>
                <a:spcPct val="130000"/>
              </a:lnSpc>
              <a:defRPr sz="2200">
                <a:solidFill>
                  <a:srgbClr val="1E1E1E"/>
                </a:solidFill>
                <a:latin typeface="Noto Sans KR"/>
              </a:defRPr>
            </a:pPr>
            <a:r>
              <a:t>• 방황과 시름을 달래려고 거문고(녹기금)를 타지만...</a:t>
            </a:r>
          </a:p>
          <a:p>
            <a:pPr lvl="1">
              <a:lnSpc>
                <a:spcPct val="130000"/>
              </a:lnSpc>
              <a:defRPr sz="2200" b="1">
                <a:solidFill>
                  <a:srgbClr val="BE0000"/>
                </a:solidFill>
                <a:latin typeface="Noto Sans KR"/>
              </a:defRPr>
            </a:pPr>
            <a:r>
              <a:t>• 방은 텅 비고 구곡간장(애타는 아홉 굽이 창자)만 끊어지듯 아픔</a:t>
            </a:r>
          </a:p>
          <a:p>
            <a:pPr>
              <a:lnSpc>
                <a:spcPct val="130000"/>
              </a:lnSpc>
              <a:defRPr sz="2600">
                <a:solidFill>
                  <a:srgbClr val="1E1E1E"/>
                </a:solidFill>
                <a:latin typeface="Noto Sans KR"/>
              </a:defRPr>
            </a:pPr>
            <a:r>
              <a:t>체념 섞인 삶의 쓸쓸한 마무리</a:t>
            </a:r>
          </a:p>
          <a:p>
            <a:pPr lvl="1">
              <a:lnSpc>
                <a:spcPct val="130000"/>
              </a:lnSpc>
              <a:defRPr sz="2200">
                <a:solidFill>
                  <a:srgbClr val="1E1E1E"/>
                </a:solidFill>
                <a:latin typeface="Noto Sans KR"/>
              </a:defRPr>
            </a:pPr>
            <a:r>
              <a:t>• 약수(건널 수 없는 물) 같은 장애물 탓에 편지조차 단절됨</a:t>
            </a:r>
          </a:p>
          <a:p>
            <a:pPr lvl="1">
              <a:lnSpc>
                <a:spcPct val="130000"/>
              </a:lnSpc>
              <a:defRPr sz="2200" b="1">
                <a:solidFill>
                  <a:srgbClr val="BE0000"/>
                </a:solidFill>
                <a:latin typeface="Noto Sans KR"/>
              </a:defRPr>
            </a:pPr>
            <a:r>
              <a:t>• 꿈에서조차 남편을 못 보느니, 차라리 죽어 천년 뒤 학이 될까...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gyuwonga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7315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3366"/>
                </a:solidFill>
                <a:latin typeface="Gmarket Sans Medium"/>
              </a:defRPr>
            </a:pPr>
            <a:r>
              <a:t>4. 핵심 수능 개념! [감정이입 vs 객관적 상관물]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645920"/>
            <a:ext cx="9144000" cy="3657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solidFill>
                  <a:srgbClr val="1E1E1E"/>
                </a:solidFill>
                <a:latin typeface="Noto Sans KR"/>
              </a:defRPr>
            </a:pPr>
            <a:r>
              <a:t>감정이입 (Empathy)</a:t>
            </a:r>
          </a:p>
          <a:p>
            <a:pPr lvl="1">
              <a:lnSpc>
                <a:spcPct val="130000"/>
              </a:lnSpc>
              <a:defRPr sz="2200">
                <a:solidFill>
                  <a:srgbClr val="1E1E1E"/>
                </a:solidFill>
                <a:latin typeface="Noto Sans KR"/>
              </a:defRPr>
            </a:pPr>
            <a:r>
              <a:t>• 대상의 감정 = 나의 감정 (너도 나처럼 슬프구나!)</a:t>
            </a:r>
          </a:p>
          <a:p>
            <a:pPr lvl="1">
              <a:lnSpc>
                <a:spcPct val="130000"/>
              </a:lnSpc>
              <a:defRPr sz="2200" b="1">
                <a:solidFill>
                  <a:srgbClr val="BE0000"/>
                </a:solidFill>
                <a:latin typeface="Noto Sans KR"/>
              </a:defRPr>
            </a:pPr>
            <a:r>
              <a:t>• &lt;규원가&gt; ➔ '귀뚜라미(실솔)' (벌레가 나처럼 '운다'고 표현함)</a:t>
            </a:r>
          </a:p>
          <a:p>
            <a:pPr>
              <a:lnSpc>
                <a:spcPct val="130000"/>
              </a:lnSpc>
              <a:defRPr sz="2600">
                <a:solidFill>
                  <a:srgbClr val="1E1E1E"/>
                </a:solidFill>
                <a:latin typeface="Noto Sans KR"/>
              </a:defRPr>
            </a:pPr>
            <a:r>
              <a:t>객관적 상관물 (Objective Correlative)</a:t>
            </a:r>
          </a:p>
          <a:p>
            <a:pPr lvl="1">
              <a:lnSpc>
                <a:spcPct val="130000"/>
              </a:lnSpc>
              <a:defRPr sz="2200">
                <a:solidFill>
                  <a:srgbClr val="1E1E1E"/>
                </a:solidFill>
                <a:latin typeface="Noto Sans KR"/>
              </a:defRPr>
            </a:pPr>
            <a:r>
              <a:t>• 우울할 때 비가 오면 더 외롭듯, 내 감정을 돋보이게 하는 도구</a:t>
            </a:r>
          </a:p>
          <a:p>
            <a:pPr lvl="1">
              <a:lnSpc>
                <a:spcPct val="130000"/>
              </a:lnSpc>
              <a:defRPr sz="2200">
                <a:solidFill>
                  <a:srgbClr val="1E1E1E"/>
                </a:solidFill>
                <a:latin typeface="Noto Sans KR"/>
              </a:defRPr>
            </a:pPr>
            <a:r>
              <a:t>• (감정이입도 객관적 상관물 카테고리 안에 포함됨)</a:t>
            </a:r>
          </a:p>
          <a:p>
            <a:pPr lvl="1">
              <a:lnSpc>
                <a:spcPct val="130000"/>
              </a:lnSpc>
              <a:defRPr sz="2200" b="1">
                <a:solidFill>
                  <a:srgbClr val="BE0000"/>
                </a:solidFill>
                <a:latin typeface="Noto Sans KR"/>
              </a:defRPr>
            </a:pPr>
            <a:r>
              <a:t>• &lt;규원가&gt; ➔ '거문고(녹기금)' (내가 그냥 치는 악기일 뿐이지만 외로움 배가)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hyeon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7315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3366"/>
                </a:solidFill>
                <a:latin typeface="Gmarket Sans Medium"/>
              </a:defRPr>
            </a:pPr>
            <a:r>
              <a:t>5. 작자 미상 &lt;인현왕후전&gt; 특강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645920"/>
            <a:ext cx="9144000" cy="3657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solidFill>
                  <a:srgbClr val="1E1E1E"/>
                </a:solidFill>
                <a:latin typeface="Noto Sans KR"/>
              </a:defRPr>
            </a:pPr>
            <a:r>
              <a:t>조선 시대 흥행 돌풍 '3대 궁중 문학'의 백미</a:t>
            </a:r>
          </a:p>
          <a:p>
            <a:pPr lvl="1">
              <a:lnSpc>
                <a:spcPct val="130000"/>
              </a:lnSpc>
              <a:defRPr sz="2200">
                <a:solidFill>
                  <a:srgbClr val="1E1E1E"/>
                </a:solidFill>
                <a:latin typeface="Noto Sans KR"/>
              </a:defRPr>
            </a:pPr>
            <a:r>
              <a:t>• 기사환국 ~ 갑술환국 시기 궁중 암투를 다룬 역사 소설</a:t>
            </a:r>
          </a:p>
          <a:p>
            <a:pPr>
              <a:lnSpc>
                <a:spcPct val="130000"/>
              </a:lnSpc>
              <a:defRPr sz="2600">
                <a:solidFill>
                  <a:srgbClr val="1E1E1E"/>
                </a:solidFill>
                <a:latin typeface="Noto Sans KR"/>
              </a:defRPr>
            </a:pPr>
            <a:r>
              <a:t>이 소설 속 인물들의 특징은?</a:t>
            </a:r>
          </a:p>
          <a:p>
            <a:pPr lvl="1">
              <a:lnSpc>
                <a:spcPct val="130000"/>
              </a:lnSpc>
              <a:defRPr sz="2200">
                <a:solidFill>
                  <a:srgbClr val="1E1E1E"/>
                </a:solidFill>
                <a:latin typeface="Noto Sans KR"/>
              </a:defRPr>
            </a:pPr>
            <a:r>
              <a:t>• 복잡한 인간의 심경 변화보다는 철저하게 선과 악을 양 극단으로 형상화함</a:t>
            </a:r>
          </a:p>
          <a:p>
            <a:pPr>
              <a:lnSpc>
                <a:spcPct val="130000"/>
              </a:lnSpc>
              <a:defRPr sz="2600">
                <a:solidFill>
                  <a:srgbClr val="1E1E1E"/>
                </a:solidFill>
                <a:latin typeface="Noto Sans KR"/>
              </a:defRPr>
            </a:pPr>
            <a:r>
              <a:t>궁극적인 집필 목적</a:t>
            </a:r>
          </a:p>
          <a:p>
            <a:pPr lvl="1">
              <a:lnSpc>
                <a:spcPct val="130000"/>
              </a:lnSpc>
              <a:defRPr sz="2200" b="1">
                <a:solidFill>
                  <a:srgbClr val="BE0000"/>
                </a:solidFill>
                <a:latin typeface="Noto Sans KR"/>
              </a:defRPr>
            </a:pPr>
            <a:r>
              <a:t>• 유교적 권선징악 사상의 옹호</a:t>
            </a:r>
          </a:p>
          <a:p>
            <a:pPr lvl="1">
              <a:lnSpc>
                <a:spcPct val="130000"/>
              </a:lnSpc>
              <a:defRPr sz="2200" b="1">
                <a:solidFill>
                  <a:srgbClr val="BE0000"/>
                </a:solidFill>
                <a:latin typeface="Noto Sans KR"/>
              </a:defRPr>
            </a:pPr>
            <a:r>
              <a:t>• 인현왕후 복위의 정당성 확보 및 장희빈 악행 처단의 당위성 입증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hyeon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7315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3366"/>
                </a:solidFill>
                <a:latin typeface="Gmarket Sans Medium"/>
              </a:defRPr>
            </a:pPr>
            <a:r>
              <a:t>6. 극단적 인물 대립 (선 vs 악)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645920"/>
            <a:ext cx="9144000" cy="3657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solidFill>
                  <a:srgbClr val="1E1E1E"/>
                </a:solidFill>
                <a:latin typeface="Noto Sans KR"/>
              </a:defRPr>
            </a:pPr>
            <a:r>
              <a:t>인현왕후 (초지일관 절대적 선 / 유교 덕목의 화신)</a:t>
            </a:r>
          </a:p>
          <a:p>
            <a:pPr lvl="1">
              <a:lnSpc>
                <a:spcPct val="130000"/>
              </a:lnSpc>
              <a:defRPr sz="2200" b="1">
                <a:solidFill>
                  <a:srgbClr val="BE0000"/>
                </a:solidFill>
                <a:latin typeface="Noto Sans KR"/>
              </a:defRPr>
            </a:pPr>
            <a:r>
              <a:t>• 임금이 쫓아내고 사가로 내쳐도 절대 원망하지 않음</a:t>
            </a:r>
          </a:p>
          <a:p>
            <a:pPr lvl="1">
              <a:lnSpc>
                <a:spcPct val="130000"/>
              </a:lnSpc>
              <a:defRPr sz="2200">
                <a:solidFill>
                  <a:srgbClr val="1E1E1E"/>
                </a:solidFill>
                <a:latin typeface="Noto Sans KR"/>
              </a:defRPr>
            </a:pPr>
            <a:r>
              <a:t>• 군주에 대한 무한한 부덕과 인내 (답답할 정도의 극한의 순종성)</a:t>
            </a:r>
          </a:p>
          <a:p>
            <a:pPr>
              <a:lnSpc>
                <a:spcPct val="130000"/>
              </a:lnSpc>
              <a:defRPr sz="2600">
                <a:solidFill>
                  <a:srgbClr val="1E1E1E"/>
                </a:solidFill>
                <a:latin typeface="Noto Sans KR"/>
              </a:defRPr>
            </a:pPr>
            <a:r>
              <a:t>장희빈 (도 넘은 탐욕과 폭주의 상징)</a:t>
            </a:r>
          </a:p>
          <a:p>
            <a:pPr lvl="1">
              <a:lnSpc>
                <a:spcPct val="130000"/>
              </a:lnSpc>
              <a:defRPr sz="2200" b="1">
                <a:solidFill>
                  <a:srgbClr val="BE0000"/>
                </a:solidFill>
                <a:latin typeface="Noto Sans KR"/>
              </a:defRPr>
            </a:pPr>
            <a:r>
              <a:t>• 가부장제가 가장 혐오하는 오만불손과 '투기(질투)'의 아이콘</a:t>
            </a:r>
          </a:p>
          <a:p>
            <a:pPr>
              <a:lnSpc>
                <a:spcPct val="130000"/>
              </a:lnSpc>
              <a:defRPr sz="2600">
                <a:solidFill>
                  <a:srgbClr val="1E1E1E"/>
                </a:solidFill>
                <a:latin typeface="Noto Sans KR"/>
              </a:defRPr>
            </a:pPr>
            <a:r>
              <a:t>숙종 (가부장제의 절대 권력자)</a:t>
            </a:r>
          </a:p>
          <a:p>
            <a:pPr lvl="1">
              <a:lnSpc>
                <a:spcPct val="130000"/>
              </a:lnSpc>
              <a:defRPr sz="2200">
                <a:solidFill>
                  <a:srgbClr val="1E1E1E"/>
                </a:solidFill>
                <a:latin typeface="Noto Sans KR"/>
              </a:defRPr>
            </a:pPr>
            <a:r>
              <a:t>• 모함에 속아 폭정을 하나, 국왕이기에 강력한 비판에서는 살짝 빗겨감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hyeon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7315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3366"/>
                </a:solidFill>
                <a:latin typeface="Gmarket Sans Medium"/>
              </a:defRPr>
            </a:pPr>
            <a:r>
              <a:t>7. 머릿속에 바로 꽂히는 사건의 전개막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645920"/>
            <a:ext cx="9144000" cy="3657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solidFill>
                  <a:srgbClr val="1E1E1E"/>
                </a:solidFill>
                <a:latin typeface="Noto Sans KR"/>
              </a:defRPr>
            </a:pPr>
            <a:r>
              <a:t>발단: 15세의 어린 인현왕후가 숙종의 두 번째 부인이 되다</a:t>
            </a:r>
          </a:p>
          <a:p>
            <a:pPr>
              <a:lnSpc>
                <a:spcPct val="130000"/>
              </a:lnSpc>
              <a:defRPr sz="2600">
                <a:solidFill>
                  <a:srgbClr val="1E1E1E"/>
                </a:solidFill>
                <a:latin typeface="Noto Sans KR"/>
              </a:defRPr>
            </a:pPr>
            <a:r>
              <a:t>전개: 하지만 아들을 낳은 건 장희빈, 무자비한 모함이 시작됨</a:t>
            </a:r>
          </a:p>
          <a:p>
            <a:pPr>
              <a:lnSpc>
                <a:spcPct val="130000"/>
              </a:lnSpc>
              <a:defRPr sz="2600" b="1">
                <a:solidFill>
                  <a:srgbClr val="BE0000"/>
                </a:solidFill>
                <a:latin typeface="Noto Sans KR"/>
              </a:defRPr>
            </a:pPr>
            <a:r>
              <a:t>위기: 장희빈 치맛폭에 속은 숙종, 인현왕후를 서인으로 폐위</a:t>
            </a:r>
          </a:p>
          <a:p>
            <a:pPr lvl="1">
              <a:lnSpc>
                <a:spcPct val="130000"/>
              </a:lnSpc>
              <a:defRPr sz="2200">
                <a:solidFill>
                  <a:srgbClr val="1E1E1E"/>
                </a:solidFill>
                <a:latin typeface="Noto Sans KR"/>
              </a:defRPr>
            </a:pPr>
            <a:r>
              <a:t>• 쫓겨난 안국동 사가에서도 인현왕후는 시종일관 침착함과 인내 유지</a:t>
            </a:r>
          </a:p>
          <a:p>
            <a:pPr>
              <a:lnSpc>
                <a:spcPct val="130000"/>
              </a:lnSpc>
              <a:defRPr sz="2600" b="1">
                <a:solidFill>
                  <a:srgbClr val="BE0000"/>
                </a:solidFill>
                <a:latin typeface="Noto Sans KR"/>
              </a:defRPr>
            </a:pPr>
            <a:r>
              <a:t>절정: 장희빈이 덜컥 중전이 되었으나 그 패악질에 숙종이 질려버림</a:t>
            </a:r>
          </a:p>
          <a:p>
            <a:pPr>
              <a:lnSpc>
                <a:spcPct val="130000"/>
              </a:lnSpc>
              <a:defRPr sz="2600">
                <a:solidFill>
                  <a:srgbClr val="1E1E1E"/>
                </a:solidFill>
                <a:latin typeface="Noto Sans KR"/>
              </a:defRPr>
            </a:pPr>
            <a:r>
              <a:t>결말: 숙종의 대오각성 ➔ 인현왕후 화려한 복위 ➔ 장희빈 참교육(사약)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hyeon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7315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3366"/>
                </a:solidFill>
                <a:latin typeface="Gmarket Sans Medium"/>
              </a:defRPr>
            </a:pPr>
            <a:r>
              <a:t>8. 고전 소설 단골 문제! [서술자의 개입]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645920"/>
            <a:ext cx="9144000" cy="3657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solidFill>
                  <a:srgbClr val="1E1E1E"/>
                </a:solidFill>
                <a:latin typeface="Noto Sans KR"/>
              </a:defRPr>
            </a:pPr>
            <a:r>
              <a:t>서술자의 개입 (편집자적 논평) 이란?</a:t>
            </a:r>
          </a:p>
          <a:p>
            <a:pPr lvl="1">
              <a:lnSpc>
                <a:spcPct val="130000"/>
              </a:lnSpc>
              <a:defRPr sz="2200">
                <a:solidFill>
                  <a:srgbClr val="1E1E1E"/>
                </a:solidFill>
                <a:latin typeface="Noto Sans KR"/>
              </a:defRPr>
            </a:pPr>
            <a:r>
              <a:t>• 투명인간이던 카메라맨(서술자)이 불쑥 나타나 상황을 훈수두고 평가함</a:t>
            </a:r>
          </a:p>
          <a:p>
            <a:pPr>
              <a:lnSpc>
                <a:spcPct val="130000"/>
              </a:lnSpc>
              <a:defRPr sz="2600">
                <a:solidFill>
                  <a:srgbClr val="1E1E1E"/>
                </a:solidFill>
                <a:latin typeface="Noto Sans KR"/>
              </a:defRPr>
            </a:pPr>
            <a:r>
              <a:t>본문 예시: 서술자의 감정 이입이 빵 터짐</a:t>
            </a:r>
          </a:p>
          <a:p>
            <a:pPr lvl="1">
              <a:lnSpc>
                <a:spcPct val="130000"/>
              </a:lnSpc>
              <a:defRPr sz="2200" b="1">
                <a:solidFill>
                  <a:srgbClr val="BE0000"/>
                </a:solidFill>
                <a:latin typeface="Noto Sans KR"/>
              </a:defRPr>
            </a:pPr>
            <a:r>
              <a:t>• "어찌 가련치 아니하리오. 만물도 슬퍼하고 하늘도 감동했다"</a:t>
            </a:r>
          </a:p>
          <a:p>
            <a:pPr>
              <a:lnSpc>
                <a:spcPct val="130000"/>
              </a:lnSpc>
              <a:defRPr sz="2600">
                <a:solidFill>
                  <a:srgbClr val="1E1E1E"/>
                </a:solidFill>
                <a:latin typeface="Noto Sans KR"/>
              </a:defRPr>
            </a:pPr>
            <a:r>
              <a:t>이렇게 대놓고 논평을 날리면 생기는 효과?</a:t>
            </a:r>
          </a:p>
          <a:p>
            <a:pPr lvl="1">
              <a:lnSpc>
                <a:spcPct val="130000"/>
              </a:lnSpc>
              <a:defRPr sz="2200" b="1">
                <a:solidFill>
                  <a:srgbClr val="BE0000"/>
                </a:solidFill>
                <a:latin typeface="Noto Sans KR"/>
              </a:defRPr>
            </a:pPr>
            <a:r>
              <a:t>• 독자들에게 자연스레 인현왕후 편을 들게 하는 강력한 가스라이팅(?) 장치</a:t>
            </a:r>
          </a:p>
          <a:p>
            <a:pPr lvl="1">
              <a:lnSpc>
                <a:spcPct val="130000"/>
              </a:lnSpc>
              <a:defRPr sz="2200">
                <a:solidFill>
                  <a:srgbClr val="1E1E1E"/>
                </a:solidFill>
                <a:latin typeface="Noto Sans KR"/>
              </a:defRPr>
            </a:pPr>
            <a:r>
              <a:t>• 장희빈의 악행에 대한 분노 수치를 독자와 함께 최대로 끌어올림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